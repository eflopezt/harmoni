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2080" y="1828800"/>
            <a:ext cx="1828800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1828800"/>
            <a:ext cx="182880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Harmoni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000" b="0" i="0">
                <a:solidFill>
                  <a:srgbClr val="5EEAD4"/>
                </a:solidFill>
                <a:latin typeface="Calibri"/>
              </a:rPr>
              <a:t>ERP de Recursos Humanos · Hecho en Perú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Presentación demo · Mayo 2026 · v1.2.1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0D2B27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0">
                <a:solidFill>
                  <a:srgbClr val="475569"/>
                </a:solidFill>
                <a:latin typeface="Calibri"/>
              </a:rPr>
              <a:t>RRHH peruano gasta horas en planilla, no en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48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0" i="0">
                <a:solidFill>
                  <a:srgbClr val="0D2B27"/>
                </a:solidFill>
                <a:latin typeface="Calibri"/>
              </a:rP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0D2B27"/>
                </a:solidFill>
                <a:latin typeface="Calibri"/>
              </a:rPr>
              <a:t>4 horas para cerrar una planilla mensual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Excel paralelo, fórmulas frágiles, errores que llegan a SUNAFIL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48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0" i="0">
                <a:solidFill>
                  <a:srgbClr val="0D2B27"/>
                </a:solidFill>
                <a:latin typeface="Calibri"/>
              </a:rPr>
              <a:t>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0D2B27"/>
                </a:solidFill>
                <a:latin typeface="Calibri"/>
              </a:rPr>
              <a:t>ERPs extranjeros traducidos al español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No conocen D.Leg. 728, ni gratificación + 9%, ni CTS semestral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48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0" i="0">
                <a:solidFill>
                  <a:srgbClr val="0D2B27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2336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0D2B27"/>
                </a:solidFill>
                <a:latin typeface="Calibri"/>
              </a:rPr>
              <a:t>Datos en silos sin trazabilidad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891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Tareo en Synkro, recibos en PDF, vacaciones en mail, IR 5ta en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48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0" i="0">
                <a:solidFill>
                  <a:srgbClr val="0D2B27"/>
                </a:solidFill>
                <a:latin typeface="Calibri"/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0D2B27"/>
                </a:solidFill>
                <a:latin typeface="Calibri"/>
              </a:rPr>
              <a:t>RRHH es el cuello de botella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035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Cada consulta del trabajador pasa por la asistente de RRHH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0D2B27"/>
                </a:solidFill>
                <a:latin typeface="Calibri"/>
              </a:rPr>
              <a:t>La solución: Harmoni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  <a:latin typeface="Calibri"/>
              </a:rPr>
              <a:t>ERP de RRHH peruano · 17 módulos integrados · Diseño Cockpit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66160" cy="3200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661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Trabaja en armonía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334049"/>
                </a:solidFill>
                <a:latin typeface="Calibri"/>
              </a:rPr>
              <a:t>Personal → Asistencia → Nóminas → Portal del empleado sin doble ingreso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566160" cy="3200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5661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5661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Comunica 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30175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334049"/>
                </a:solidFill>
                <a:latin typeface="Calibri"/>
              </a:rPr>
              <a:t>Alertas proactivas, workflows configurables, audit log completo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3566160" cy="3200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5661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286000"/>
            <a:ext cx="35661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Calcula bien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30175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334049"/>
                </a:solidFill>
                <a:latin typeface="Calibri"/>
              </a:rPr>
              <a:t>D.Leg. 728/713/650, IR 5ta SUNAT, AFP/ONP, CTS, gratis + 9%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En producción hoy: Consorcio Stiler (234 colaboradores) · Demo: Grupo Sabores del Sur (86 colaboradores · gastronomía)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Centro de Comando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Lo que hay que hacer hoy · alertas en vivo · KPIs · "Una cosa para hoy"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0F766E"/>
                </a:solidFill>
                <a:latin typeface="Consola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Colaboradores activos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060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9164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0F766E"/>
                </a:solidFill>
                <a:latin typeface="Consola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Locales operando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6060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9164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Consolas"/>
              </a:rPr>
              <a:t>S/ 220K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40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Planilla est./mes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554480"/>
            <a:ext cx="26060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69164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onsola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40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Alertas activas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10881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137160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⚡ Una cosa para hacer hoy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0D2B27"/>
                </a:solidFill>
                <a:latin typeface="Calibri"/>
              </a:rPr>
              <a:t>10 contratos vencen en próximos 30 días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Revisar renovaciones · click para ir al módulo Contratos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89120"/>
            <a:ext cx="10881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07992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0D2B27"/>
                </a:solidFill>
                <a:latin typeface="Calibri"/>
              </a:rPr>
              <a:t>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0799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8 solicitudes de vacaciones pendientes de aprobación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0799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0F766E"/>
                </a:solidFill>
                <a:latin typeface="Consolas"/>
              </a:rPr>
              <a:t>/vacaciones/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10881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48072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0D2B27"/>
                </a:solidFill>
                <a:latin typeface="Calibri"/>
              </a:rPr>
              <a:t>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4807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DIGESA vence: 12 trabajadores en 15 días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14807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0F766E"/>
                </a:solidFill>
                <a:latin typeface="Consolas"/>
              </a:rPr>
              <a:t>/capacitaciones/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69280"/>
            <a:ext cx="10881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788152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0D2B27"/>
                </a:solidFill>
                <a:latin typeface="Calibri"/>
              </a:rPr>
              <a:t>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881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3 nuevos postulantes para Chef Ejecutivo Senior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788152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0F766E"/>
                </a:solidFill>
                <a:latin typeface="Consolas"/>
              </a:rPr>
              <a:t>/reclutamiento/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"El sistema te dice qué hacer; tú decides cuándo hacerlo."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Módulo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Una sola pantalla para gestionar 200+ empleados — sin abrir 5 modales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8640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57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D2B27"/>
                </a:solidFill>
                <a:latin typeface="Calibri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Tabla densa Cockpit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Una línea por persona, columnas numéricas en JetBrains Mono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48640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57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D2B27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Filtros chip + búsqueda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Estado, grupo, sede, área, régimen — sin recargar página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548640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457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D2B27"/>
                </a:solidFill>
                <a:latin typeface="Calibri"/>
              </a:rPr>
              <a:t>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06040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Drawer 540px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803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Click sobre fila abre lateral con 4 tabs (Datos, Contrato, Asistencia, Histórico) sin perder contexto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548640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651760"/>
            <a:ext cx="457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D2B27"/>
                </a:solidFill>
                <a:latin typeface="Calibr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06040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Bulk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8803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Multi-selección → barra inferior: cambiar estado · asignar área · exportar · cesar masivo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74720"/>
            <a:ext cx="548640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66160"/>
            <a:ext cx="457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D2B27"/>
                </a:solidFill>
                <a:latin typeface="Calibri"/>
              </a:rPr>
              <a:t>✏️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520440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Inline 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947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Doble-click sobre cargo/sueldo → edita en la celda, Enter para confirmar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474720"/>
            <a:ext cx="548640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566160"/>
            <a:ext cx="457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D2B27"/>
                </a:solidFill>
                <a:latin typeface="Calibri"/>
              </a:rPr>
              <a:t>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520440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⌘K Command Palette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7947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Búsqueda global instantánea — empleados, módulos, acciones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"Quien usa Harmoni una semana ya no usa el menú — usa ⌘K."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Asistencia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Matriz mensual · sync biométrico de 1 click · turno rotativo configurable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3200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D2B27"/>
                </a:solidFill>
                <a:latin typeface="Calibri"/>
              </a:rPr>
              <a:t>Trabajador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1828800"/>
            <a:ext cx="548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onsola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240280"/>
            <a:ext cx="18288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D2B27"/>
                </a:solidFill>
                <a:latin typeface="Calibri"/>
              </a:rPr>
              <a:t>AGUIRRE CCAMA,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441448"/>
            <a:ext cx="1828800" cy="182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alibri"/>
              </a:rPr>
              <a:t>Mozo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22402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9" y="22402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59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8408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2720" y="22402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22402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2697480"/>
            <a:ext cx="18288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D2B27"/>
                </a:solidFill>
                <a:latin typeface="Calibri"/>
              </a:rPr>
              <a:t>CONDORI APAZA, 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2898648"/>
            <a:ext cx="1828800" cy="182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alibri"/>
              </a:rPr>
              <a:t>Cocinero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49039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49039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9768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4632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632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9496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0" y="26974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9224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4088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8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58952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8952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38159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59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8680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23544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3544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4080" y="26974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8408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332720" y="26974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32720" y="26974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3154680"/>
            <a:ext cx="18288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D2B27"/>
                </a:solidFill>
                <a:latin typeface="Calibri"/>
              </a:rPr>
              <a:t>VEGA CORDERO, 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3355848"/>
            <a:ext cx="1828800" cy="182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alibri"/>
              </a:rPr>
              <a:t>Bartender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0040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749039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49039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9768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846320" y="31546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39496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4360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9224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9224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4088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4088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58952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8952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138159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38159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686800" y="31546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8680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23544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3544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78408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78408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332720" y="31546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332720" y="31546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2960" y="3611880"/>
            <a:ext cx="18288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D2B27"/>
                </a:solidFill>
                <a:latin typeface="Calibri"/>
              </a:rPr>
              <a:t>FLORES MAMANI, J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2960" y="3813048"/>
            <a:ext cx="1828800" cy="182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alibri"/>
              </a:rPr>
              <a:t>Mozo Sr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200400" y="36118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0040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749039" y="3611880"/>
            <a:ext cx="5029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749039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FA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297680" y="36118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9768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46320" y="36118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394960" y="36118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39496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43600" y="36118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94360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492240" y="36118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9224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040880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04088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589520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8952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138159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138159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686800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8680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35440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23544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784080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8408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332720" y="3611880"/>
            <a:ext cx="502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332720" y="36118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2960" y="4069080"/>
            <a:ext cx="18288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D2B27"/>
                </a:solidFill>
                <a:latin typeface="Calibri"/>
              </a:rPr>
              <a:t>TORRES DIAZ, 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2960" y="4270248"/>
            <a:ext cx="1828800" cy="182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alibri"/>
              </a:rPr>
              <a:t>Hostess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20040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0040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749039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749039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29768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29768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84632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84632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394960" y="40690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94360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94360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9224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9224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04088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04088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58952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58952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138159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138159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68680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68680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235440" y="4069080"/>
            <a:ext cx="502920" cy="3200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23544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78408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78408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332720" y="4069080"/>
            <a:ext cx="5029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332720" y="4069080"/>
            <a:ext cx="5029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40080" y="5120640"/>
            <a:ext cx="365760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40080" y="5120640"/>
            <a:ext cx="36576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1560" y="5120640"/>
            <a:ext cx="22860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Trabajado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383280" y="5120640"/>
            <a:ext cx="365760" cy="2743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383280" y="5120640"/>
            <a:ext cx="36576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DS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94760" y="5120640"/>
            <a:ext cx="22860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Descanso semanal (rotativo)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126480" y="5120640"/>
            <a:ext cx="36576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26480" y="5120640"/>
            <a:ext cx="36576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FA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37960" y="5120640"/>
            <a:ext cx="22860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Falta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869680" y="5120640"/>
            <a:ext cx="3657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869680" y="5120640"/>
            <a:ext cx="36576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VAC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281160" y="5120640"/>
            <a:ext cx="22860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Vacaciones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34049"/>
                </a:solidFill>
                <a:latin typeface="Calibri"/>
              </a:rPr>
              <a:t>🆕 Turno rotativo: gastronomía no usa roster. El día de descanso semanal es configurable por trabajador (lunes a domingo).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"Sync con tu reloj biométrico de 1 click — sin Excel paralelo."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Nóminas · Cierre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11 pasos · 12 minutos · personalizable por empresa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00784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0784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Asistencia del 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700784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00784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691640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Conceptos sin inconsistencias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84832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139696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39696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30552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Crear/abrir período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84832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139696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39696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30552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Generar planilla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23744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2578608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578608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569464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Aprobar planilla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23744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2578608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578608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569464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Emitir boletas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962656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017520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017520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008376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Acuses de recibo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962656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3017520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017520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008376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Exportar PLAME a SUNAT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401568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3456432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456432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447288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Exportar AFPNet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401568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92240" y="3456432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456432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447288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Asiento contable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840480"/>
            <a:ext cx="548640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3895344"/>
            <a:ext cx="2743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895344"/>
            <a:ext cx="274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3886200"/>
            <a:ext cx="4892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0D2B27"/>
                </a:solidFill>
                <a:latin typeface="Calibri"/>
              </a:rPr>
              <a:t>Cerrar período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🆕 v1.2: AFPNet step #9 nuevo · Botón "Personalizar pasos" (oculta los que no aplican)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"Lo que en SAP requiere 4 horas y un Excel paralelo, acá son 12 minutos."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Liquidaciones laborales · NUEVO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Flujo end-to-end al cese · 1 botón · 3 PDFs · 5 etapas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004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Iniciar cese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828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Botón en ficha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3657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F766E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59" y="169164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799" y="1783080"/>
            <a:ext cx="32004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1783080"/>
            <a:ext cx="32004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19456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Wizard 3 pasos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2560320"/>
            <a:ext cx="1828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Datos · preview · confirmar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2240280"/>
            <a:ext cx="3657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F766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69164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1783080"/>
            <a:ext cx="32004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783080"/>
            <a:ext cx="32004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19456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Cálculo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560320"/>
            <a:ext cx="1828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Truncas + descuentos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240280"/>
            <a:ext cx="3657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F766E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69164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59" y="1783080"/>
            <a:ext cx="32004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59" y="1783080"/>
            <a:ext cx="32004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219456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PDFs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2560320"/>
            <a:ext cx="1828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Boleta · Carta no adeudo · Certificado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240280"/>
            <a:ext cx="3657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 i="0">
                <a:solidFill>
                  <a:srgbClr val="0F766E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199" y="169164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39" y="1783080"/>
            <a:ext cx="32004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39" y="1783080"/>
            <a:ext cx="32004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79" y="219456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9" y="2560320"/>
            <a:ext cx="1828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Offboarding 5 etapas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56616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8 motivos soportados: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11480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Renuncia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11480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Despido (causa)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11480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Despido arbitrario (indemnización)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411480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Mutuo disenso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526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Caducidad contrato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526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Jubilación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526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Fallecimiento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52628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Período de prueba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Calidad: 47 tests passing (modelo + signal + wizard + cartas + offboarding + exit interview)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71500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"Lo que en SAP requiere 4 horas y un Excel paralelo, acá son 3 clicks."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onsolas"/>
              </a:rPr>
              <a:t>URL demo: /personal/&lt;id&gt;/cesar/ · /nominas/liquidacion/&lt;id&gt;/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Agente IA · Harmoni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EEAD4"/>
                </a:solidFill>
                <a:latin typeface="Calibri"/>
              </a:rPr>
              <a:t>No es un chatbot. Es un asistente que ACTÚA con tool-use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1965960"/>
            <a:ext cx="73152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965960"/>
            <a:ext cx="6949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"El mes pasado olvidé subir el sueldo S/200 a todos los trabajadores"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1033272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0D2B27"/>
                </a:solidFill>
                <a:latin typeface="Calibr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Harmoni AI · usando D.S. 003-97-TR + tool reintegro_masivo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Detecté que aplica un reintegro retroactivo para el mes anterior.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• 64 trabajadores afectados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• Reintegro sueldo: S/ 12,800 (64 × S/200)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• Proporcional gratificación: S/ 2,133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• Proporcional CTS: S/ 1,066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• Total: S/ 15,999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Genero el asiento de reintegro como concepto REINTEGRO_SUELDO en la</a:t>
            </a:r>
          </a:p>
          <a:p>
            <a:pPr algn="l"/>
            <a:r>
              <a:rPr sz="1100" b="0" i="0">
                <a:solidFill>
                  <a:srgbClr val="0D2B27"/>
                </a:solidFill>
                <a:latin typeface="Calibri"/>
              </a:rPr>
              <a:t>próxima planilla. ¿Apruebas?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120640"/>
            <a:ext cx="2286000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22860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 Aprobar reintegro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120640"/>
            <a:ext cx="2011680" cy="3657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120640"/>
            <a:ext cx="20116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 i="0">
                <a:solidFill>
                  <a:srgbClr val="0D2B27"/>
                </a:solidFill>
                <a:latin typeface="Calibri"/>
              </a:rPr>
              <a:t>Ver detalle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5EEAD4"/>
                </a:solidFill>
                <a:latin typeface="Calibri"/>
              </a:rPr>
              <a:t>RAG de normativa peruana · 22 entradas (D.S. 003-97-TR, D.Leg. 728/713/650, IR 5ta SUNAT...)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5EEAD4"/>
                </a:solidFill>
                <a:latin typeface="Calibri"/>
              </a:rPr>
              <a:t>Frase: "El agente actúa, no solo conversa."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Pool de Propinas · Gastronomía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Distribución automática por puntos · sin Excel · sin discusiones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Puntos por cargo (configurable)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Mozo Senior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4028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3.5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Mozo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3.0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Bartender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2.5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Hostess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1.5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Sushi Chef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044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2.0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Cocinero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1.0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Cocinero Junior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0.8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Ayudante de cocina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8056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0.5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Lavaplatos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00600"/>
            <a:ext cx="1371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F766E"/>
                </a:solidFill>
                <a:latin typeface="Consolas"/>
              </a:rPr>
              <a:t>0.5 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91640"/>
            <a:ext cx="512064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Ejemplo: Pool semanal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334049"/>
                </a:solidFill>
                <a:latin typeface="Calibri"/>
              </a:rPr>
              <a:t>Monto recolectado: S/ 2,800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334049"/>
                </a:solidFill>
                <a:latin typeface="Calibri"/>
              </a:rPr>
              <a:t>Suma puntos del turno: 20.3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9718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Consolas"/>
              </a:rPr>
              <a:t>Valor por punto: S/ 137.93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474720"/>
            <a:ext cx="4754880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611880"/>
            <a:ext cx="2560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María (Mozo Senior)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1188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onsolas"/>
              </a:rPr>
              <a:t>3.5pts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611880"/>
            <a:ext cx="1463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onsolas"/>
              </a:rPr>
              <a:t>S/ 482.76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977640"/>
            <a:ext cx="2560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Carlos (Bartender)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97764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onsolas"/>
              </a:rPr>
              <a:t>2.5pts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977640"/>
            <a:ext cx="1463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onsolas"/>
              </a:rPr>
              <a:t>S/ 344.83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343400"/>
            <a:ext cx="2560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Ana (Cocinero)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34340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onsolas"/>
              </a:rPr>
              <a:t>1.0pts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343400"/>
            <a:ext cx="1463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onsolas"/>
              </a:rPr>
              <a:t>S/ 137.93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709160"/>
            <a:ext cx="2560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Luis (Ayudante)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709160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onsolas"/>
              </a:rPr>
              <a:t>0.5pts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4709160"/>
            <a:ext cx="1463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onsolas"/>
              </a:rPr>
              <a:t>S/ 68.97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3212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Investigación: Toast POS, Square, 7shifts, TipHaus, Tronc UK · Modos: POOL_PUNTOS · POOL_PAREJO · INDIVIDUAL · POOL_PUNTOS_HORAS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Acta PDF firmable · concepto NO remunerativo (no afecta AFP/CTS/gratis · DS 012-2003-TR)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"Sin Excel, sin discusión entre mozos."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Portal del Empleado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RRHH deja de ser el cuello de botella · el trabajador resuelve solo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Mi asistencia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Tabla mensual con KPIs (T, FA, HE, % asistencia)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73736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Mis recibos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PDFs firmados digitalmente · D.S. 009-2011-TR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33172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Solicitar vacaciones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6032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Calendario · días disponibles en tiempo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8600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3172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Banco de horas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56032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HE compensatorias acumuladas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8036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92608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Papeletas y permisos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15468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Salida temprana / llegada tarde · aprobación digital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88036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88036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92608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Capacitaciones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5468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Asistencias · certificados · próximas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47472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7472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52044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Mis documentos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4904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Contrato · constancias · evaluaciones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474720"/>
            <a:ext cx="54864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474720"/>
            <a:ext cx="457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0D2B27"/>
                </a:solidFill>
                <a:latin typeface="Calibri"/>
              </a:rPr>
              <a:t>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52044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Mi perfil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749040"/>
            <a:ext cx="47548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Datos personales · contacto · dependientes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Mobile-first · Login con DNI (73000043 / demo123 en demo)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"RRHH deja de ser el cuello de botella."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Analytics · People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Predicción, alertas, salud organizacional · "Lo que ningún ERP peruano tiene hoy"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657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6576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65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3108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Predicción de rotación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91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Score por trabajador · marca riesgo alto/medio/bajo · 3 indicadores claves (pulso, papeletas, tiempo sin promoción)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657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36576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40"/>
            <a:ext cx="365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691640"/>
            <a:ext cx="3108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Pulse semanal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291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Encuesta anónima 1 pregunta · score 1-10 · heatmap por local · trend de últimas 12 semanas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91640"/>
            <a:ext cx="3657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691640"/>
            <a:ext cx="36576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91640"/>
            <a:ext cx="365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40"/>
            <a:ext cx="3108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Análisis salarial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94560"/>
            <a:ext cx="3291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Bandas por cargo · equidad interna · brecha de género · ajuste sugerido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3657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36576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365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200400"/>
            <a:ext cx="3108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Headcount +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3291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Tendencia última 12 meses · costo planilla · comparativo mes anterior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200400"/>
            <a:ext cx="3657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60" y="3200400"/>
            <a:ext cx="36576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200400"/>
            <a:ext cx="365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200400"/>
            <a:ext cx="3108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Riesgo de fuga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03320"/>
            <a:ext cx="3291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Top 5 colaboradores con mayor riesgo · razones · plan de acción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200400"/>
            <a:ext cx="3657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1040" y="3200400"/>
            <a:ext cx="36576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200400"/>
            <a:ext cx="365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🎖️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200400"/>
            <a:ext cx="3108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Capacitaciones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03320"/>
            <a:ext cx="3291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Compliance DIGESA · % de certificados al día · próximos vencimientos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"Esto no lo tiene ningún ERP de RRHH peruano. Hoy."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Reclutamiento · CV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Pipeline Kanban · CV parser híbrido (local + IA) · cero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828800" cy="3657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Postulado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82880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828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94A3B8"/>
                </a:solidFill>
                <a:latin typeface="Consolas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candidatos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154680"/>
            <a:ext cx="1371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691640"/>
            <a:ext cx="18288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691640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Screening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103120"/>
            <a:ext cx="182880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103120"/>
            <a:ext cx="1828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  <a:latin typeface="Consola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63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candidatos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54680"/>
            <a:ext cx="1371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91640"/>
            <a:ext cx="18288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691640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Entrevista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103120"/>
            <a:ext cx="182880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103120"/>
            <a:ext cx="1828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Consola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063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candidatos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154680"/>
            <a:ext cx="1371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691640"/>
            <a:ext cx="182880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691640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Prueba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103120"/>
            <a:ext cx="182880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103120"/>
            <a:ext cx="1828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A855F7"/>
                </a:solidFill>
                <a:latin typeface="Consola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063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candidatos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54680"/>
            <a:ext cx="1371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1691640"/>
            <a:ext cx="182880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9" y="1691640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Oferta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2103120"/>
            <a:ext cx="182880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2103120"/>
            <a:ext cx="1828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EC4899"/>
                </a:solidFill>
                <a:latin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3063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candidatos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39" y="3154680"/>
            <a:ext cx="1371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1691640"/>
            <a:ext cx="1828800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1691640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Contratado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2103120"/>
            <a:ext cx="182880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2103120"/>
            <a:ext cx="1828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  <a:latin typeface="Consola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3063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candidatos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572000"/>
            <a:ext cx="1088136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D2B27"/>
                </a:solidFill>
                <a:latin typeface="Calibri"/>
              </a:rPr>
              <a:t>🆕 CV Express · Parser híbrido (Nexotalent-style)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Fase 1 (LOCAL): regex + spaCy detecta secciones (Datos personales, Experiencia, Educación)</a:t>
            </a:r>
          </a:p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Fase 2 (IA): solo para enriquecer campos vacíos, no para rehacer todo</a:t>
            </a:r>
          </a:p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Anti-confusión: NO usa la fecha de nacimiento como inicio de experiencia (bug típico)</a:t>
            </a:r>
          </a:p>
          <a:p>
            <a:pPr algn="l"/>
            <a:r>
              <a:rPr sz="1100" b="0" i="0">
                <a:solidFill>
                  <a:srgbClr val="334049"/>
                </a:solidFill>
                <a:latin typeface="Calibri"/>
              </a:rPr>
              <a:t>• 40 tests passing · Mascarable en CV con sección "Datos personales" + "Fecha nac: 14/03/1990" + experiencia 2018→2026 = 8 años (no 36)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"Cero Excel para el reclutador."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Workflows · Audit ·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Aprobaciones automáticas · todo lo que pasa, queda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Ejemplo: Workflow Offboarding · 5 etapas en cadena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11680" cy="914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011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Encuesta
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011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0F766E"/>
                </a:solidFill>
                <a:latin typeface="Calibri"/>
              </a:rPr>
              <a:t>En curso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2148840"/>
            <a:ext cx="2011680" cy="9144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148840"/>
            <a:ext cx="2011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334049"/>
                </a:solidFill>
                <a:latin typeface="Calibri"/>
              </a:rPr>
              <a:t>Devolución
activos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3108960"/>
            <a:ext cx="2011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Pendiente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2148840"/>
            <a:ext cx="2011680" cy="9144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2148840"/>
            <a:ext cx="2011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334049"/>
                </a:solidFill>
                <a:latin typeface="Calibri"/>
              </a:rPr>
              <a:t>Liquidación
pagada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3108960"/>
            <a:ext cx="2011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Pendiente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8896" y="2148840"/>
            <a:ext cx="2011680" cy="9144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8896" y="2148840"/>
            <a:ext cx="2011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334049"/>
                </a:solidFill>
                <a:latin typeface="Calibri"/>
              </a:rPr>
              <a:t>Carta
no adeudo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3108960"/>
            <a:ext cx="2011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Pendiente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2148840"/>
            <a:ext cx="2011680" cy="9144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2148840"/>
            <a:ext cx="2011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334049"/>
                </a:solidFill>
                <a:latin typeface="Calibri"/>
              </a:rPr>
              <a:t>Cierre
administrativo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108960"/>
            <a:ext cx="2011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Pendiente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D2B27"/>
                </a:solidFill>
                <a:latin typeface="Calibri"/>
              </a:rPr>
              <a:t>Audit Log · 5 modelos críticos con trazabilidad completa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97680"/>
            <a:ext cx="64008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64008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97680"/>
            <a:ext cx="22860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Personal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297680"/>
            <a:ext cx="25603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Altas, bajas, cambios de sueldo, área, jefatura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297680"/>
            <a:ext cx="64008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297680"/>
            <a:ext cx="64008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97680"/>
            <a:ext cx="22860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SolicitudVacación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297680"/>
            <a:ext cx="25603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Creación, aprobación, rechazo, anulación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09160"/>
            <a:ext cx="64008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09160"/>
            <a:ext cx="64008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709160"/>
            <a:ext cx="22860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Préstamo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709160"/>
            <a:ext cx="25603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Otorgamiento, cuotas pagadas, refinanciación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709160"/>
            <a:ext cx="64008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709160"/>
            <a:ext cx="64008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709160"/>
            <a:ext cx="22860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RegistroPapeleta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709160"/>
            <a:ext cx="25603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Creación, aprobación, anulación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120640"/>
            <a:ext cx="64008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120640"/>
            <a:ext cx="64008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120640"/>
            <a:ext cx="22860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D2B27"/>
                </a:solidFill>
                <a:latin typeface="Calibri"/>
              </a:rPr>
              <a:t>PeriodoNomina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120640"/>
            <a:ext cx="256032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Apertura, cierre, reapertura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Cada cambio queda con usuario · IP · timestamp · diff campo a campo · listo para SUNAFIL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"Si alguien cambia algo, queda registro inmutable."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Calidad &amp; Confiabilidad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No es promesa · son métricas verificables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Consolas"/>
              </a:rPr>
              <a:t>1,816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Tests automatizados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0F766E"/>
                </a:solidFill>
                <a:latin typeface="Consolas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Cobertura HE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0F766E"/>
                </a:solidFill>
                <a:latin typeface="Consolas"/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Cobertura nóminas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9164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82880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onsolas"/>
              </a:rPr>
              <a:t>12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77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Cierre planilla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5303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6400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0" i="0">
                <a:solidFill>
                  <a:srgbClr val="0D2B27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05072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Backup automático diario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97680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pg_dump 03:30 AM · retención 30 días · S3/Backblaze B2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5303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931920"/>
            <a:ext cx="6400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0" i="0">
                <a:solidFill>
                  <a:srgbClr val="0D2B27"/>
                </a:solidFill>
                <a:latin typeface="Calibri"/>
              </a:rPr>
              <a:t>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005072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Sentry para errores 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97680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Tags por tenant · breadcrumbs por usuario · alertas inmediatas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59"/>
            <a:ext cx="5303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59"/>
            <a:ext cx="6400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0" i="0">
                <a:solidFill>
                  <a:srgbClr val="0D2B27"/>
                </a:solidFill>
                <a:latin typeface="Calibri"/>
              </a:rPr>
              <a:t>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82311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Audit log completo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74919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5 modelos críticos · usuario · IP · diff campo a campo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09159"/>
            <a:ext cx="5303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709159"/>
            <a:ext cx="6400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0" i="0">
                <a:solidFill>
                  <a:srgbClr val="0D2B27"/>
                </a:solidFill>
                <a:latin typeface="Calibri"/>
              </a:rPr>
              <a:t>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782311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D2B27"/>
                </a:solidFill>
                <a:latin typeface="Calibri"/>
              </a:rPr>
              <a:t>Normativa peruana centralizada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074919"/>
            <a:ext cx="4389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D.S. 003-97-TR · D.Leg. 728/713/650/1057 · Ley 26790/27735/30367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0F766E"/>
                </a:solidFill>
                <a:latin typeface="Calibri"/>
              </a:rPr>
              <a:t>Frase: "Lo detectamos antes que ustedes."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¿Por qué Harmoni vs alternativas?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Comparativa cabeza a cabeza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669280" cy="4114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669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Competidor típico (SAP / Bambu / Workday)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16636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40"/>
            <a:ext cx="5166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Harmoni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66928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2148840"/>
            <a:ext cx="516636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Sistema importado, español neutro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Hecho en Perú, normativa peruana adentro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560320"/>
            <a:ext cx="5166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Cierre planilla 2-4 horas con Excel paralelo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12 minutos en wizard guiado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566928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71800"/>
            <a:ext cx="516636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Asistente que conversa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7180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Agente IA que ACTÚA con tool-use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383280"/>
            <a:ext cx="5166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8328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Sin portal del empleado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38328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Portal con auto-servicio mobile-first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566928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794760"/>
            <a:ext cx="516636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9476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Boleta PDF improvisada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9476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DS 009-2011-TR · firma electrónica · acuse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06240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206240"/>
            <a:ext cx="5166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0624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Sin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20624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AuditEntry en 5 modelos con diff campo a campo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17720"/>
            <a:ext cx="566928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4617720"/>
            <a:ext cx="516636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61772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Sin backup automático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1772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pg_dump diario · retención 30d · S3/B2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029200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5029200"/>
            <a:ext cx="5166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02920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Sin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02920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1,816 tests · 94% cobertura HE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440680"/>
            <a:ext cx="566928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5440680"/>
            <a:ext cx="516636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440680"/>
            <a:ext cx="53949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✗ Diseño anticuado SAP-style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440680"/>
            <a:ext cx="48920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✓ Cockpit V2 · Linear / Notion-style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0D2B27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En producción hoy · Próximas 6 semanas · Q3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6576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657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Hoy en 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Personal V2 (drawer + bulk + inline)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Asistencia matrix + sync biométrico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Nóminas wizard 11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Liquidaciones unificadas (Sprint 1-3)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Workflow offboarding 5 etapas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Pool propinas gastronomía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Agente IA con RAG normativa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79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Portal del empleado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46319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Analytics + Predictive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59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Audit log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399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Backup automatizado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691640"/>
            <a:ext cx="36576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1691640"/>
            <a:ext cx="3657600" cy="45720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69164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🟡 Próximas 6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28600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Sprint 4 Liquidaciones · E2E tests + capacitación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60604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Pool propinas: anomaly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92608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Auto-import propinas desde POS (R&amp;G, Sysrest)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4612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Pay-card estilo HausMoney/Kickfin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6616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App móvil portal del empleado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8620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Workflow visual editor (drag-drop)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691640"/>
            <a:ext cx="36576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1691640"/>
            <a:ext cx="365760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🔵 Q3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8600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Multi-empresa selector 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60604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IA generadora de reportes ejecutivos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92608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Integración SUNAT directa AFP 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24612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Roles finos por módulo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6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Limpieza datos legacy CSRT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88620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Dashboard cliente personalizable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20624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34049"/>
                </a:solidFill>
                <a:latin typeface="Calibri"/>
              </a:rPr>
              <a:t>• Marketplace plantillas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00800"/>
            <a:ext cx="45720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Harmoni · ERP de RRHH para Perú · Mayo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64592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¿Qué tres 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de su RRHH están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800" b="1" i="0">
                <a:solidFill>
                  <a:srgbClr val="5EEAD4"/>
                </a:solidFill>
                <a:latin typeface="Calibri"/>
              </a:rPr>
              <a:t>consumiendo más tiempo este mes?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"/>
              </a:rPr>
              <a:t>Empezamos por ahí.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754880"/>
            <a:ext cx="3931920" cy="5486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754880"/>
            <a:ext cx="39319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demo.harmoni.pe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Edwin Lopez · eflopezt@gmail.com · Harmoni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