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5EEAD4"/>
                </a:solidFill>
              </a:defRPr>
            </a:pPr>
            <a:r>
              <a:t>H  HARMONI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El ERP de RRHH que tu empresa necesita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EEAD4"/>
                </a:solidFill>
              </a:defRPr>
            </a:pPr>
            <a:r>
              <a:t>22 Modulos  |  100% Normativa Peruana  |  IA Integrada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www.harmoni.pe  |  +51 977 538 028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F2B"/>
                </a:solidFill>
              </a:defRPr>
            </a:pPr>
            <a: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C00000"/>
                </a:solidFill>
              </a:defRPr>
            </a:pPr>
            <a:r>
              <a:t>Planilla en Excel con riesgo de errores y multas SUNAFIL</a:t>
            </a:r>
          </a:p>
          <a:p>
            <a:pPr>
              <a:spcAft>
                <a:spcPts val="600"/>
              </a:spcAft>
              <a:defRPr sz="1600" b="0">
                <a:solidFill>
                  <a:srgbClr val="C00000"/>
                </a:solidFill>
              </a:defRPr>
            </a:pPr>
            <a:r>
              <a:t>Contratos vencidos sin alertas — contingencias legales</a:t>
            </a:r>
          </a:p>
          <a:p>
            <a:pPr>
              <a:spcAft>
                <a:spcPts val="600"/>
              </a:spcAft>
              <a:defRPr sz="1600" b="0">
                <a:solidFill>
                  <a:srgbClr val="C00000"/>
                </a:solidFill>
              </a:defRPr>
            </a:pPr>
            <a:r>
              <a:t>Horas extra sin control — perdida de dinero</a:t>
            </a:r>
          </a:p>
          <a:p>
            <a:pPr>
              <a:spcAft>
                <a:spcPts val="600"/>
              </a:spcAft>
              <a:defRPr sz="1600" b="0">
                <a:solidFill>
                  <a:srgbClr val="C00000"/>
                </a:solidFill>
              </a:defRPr>
            </a:pPr>
            <a:r>
              <a:t>Vacaciones calculadas "a ojo" — incumplimiento DL 713</a:t>
            </a:r>
          </a:p>
          <a:p>
            <a:pPr>
              <a:spcAft>
                <a:spcPts val="600"/>
              </a:spcAft>
              <a:defRPr sz="1600" b="0">
                <a:solidFill>
                  <a:srgbClr val="C00000"/>
                </a:solidFill>
              </a:defRPr>
            </a:pPr>
            <a:r>
              <a:t>Exportaciones a SUNAT/AFP manuales — horas desperdiciadas</a:t>
            </a:r>
          </a:p>
          <a:p>
            <a:pPr>
              <a:spcAft>
                <a:spcPts val="600"/>
              </a:spcAft>
              <a:defRPr sz="1600" b="0">
                <a:solidFill>
                  <a:srgbClr val="C00000"/>
                </a:solidFill>
              </a:defRPr>
            </a:pPr>
            <a:r>
              <a:t>Sin visibilidad de tu fuerza laboral en tiempo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766E"/>
                </a:solidFill>
              </a:defRPr>
            </a:pPr>
            <a:r>
              <a:t>La solucion: Harmoni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0F766E"/>
                </a:solidFill>
              </a:defRPr>
            </a:pPr>
            <a:r>
              <a:t>Motor de nominas automatico (IR 5ta, AFP, CTS)</a:t>
            </a:r>
          </a:p>
          <a:p>
            <a:pPr>
              <a:spcAft>
                <a:spcPts val="600"/>
              </a:spcAft>
              <a:defRPr sz="1600" b="0">
                <a:solidFill>
                  <a:srgbClr val="0F766E"/>
                </a:solidFill>
              </a:defRPr>
            </a:pPr>
            <a:r>
              <a:t>Contratos DL 728 con alertas y PDF/DOCX</a:t>
            </a:r>
          </a:p>
          <a:p>
            <a:pPr>
              <a:spcAft>
                <a:spcPts val="600"/>
              </a:spcAft>
              <a:defRPr sz="1600" b="0">
                <a:solidFill>
                  <a:srgbClr val="0F766E"/>
                </a:solidFill>
              </a:defRPr>
            </a:pPr>
            <a:r>
              <a:t>Asistencia biometrica con reglas inteligentes</a:t>
            </a:r>
          </a:p>
          <a:p>
            <a:pPr>
              <a:spcAft>
                <a:spcPts val="600"/>
              </a:spcAft>
              <a:defRPr sz="1600" b="0">
                <a:solidFill>
                  <a:srgbClr val="0F766E"/>
                </a:solidFill>
              </a:defRPr>
            </a:pPr>
            <a:r>
              <a:t>Vacaciones DL 713 al dia con saldos y vencidas</a:t>
            </a:r>
          </a:p>
          <a:p>
            <a:pPr>
              <a:spcAft>
                <a:spcPts val="600"/>
              </a:spcAft>
              <a:defRPr sz="1600" b="0">
                <a:solidFill>
                  <a:srgbClr val="0F766E"/>
                </a:solidFill>
              </a:defRPr>
            </a:pPr>
            <a:r>
              <a:t>PLAME, T-Registro, AFP Net en un click</a:t>
            </a:r>
          </a:p>
          <a:p>
            <a:pPr>
              <a:spcAft>
                <a:spcPts val="600"/>
              </a:spcAft>
              <a:defRPr sz="1600" b="0">
                <a:solidFill>
                  <a:srgbClr val="0F766E"/>
                </a:solidFill>
              </a:defRPr>
            </a:pPr>
            <a:r>
              <a:t>Dashboard en tiempo real con 200+ KPIs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2F2B"/>
                </a:solidFill>
              </a:defRPr>
            </a:pPr>
            <a:r>
              <a:t>Dashboard Principal</a:t>
            </a:r>
          </a:p>
        </p:txBody>
      </p:sp>
      <p:pic>
        <p:nvPicPr>
          <p:cNvPr id="3" name="Picture 2" descr="01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63265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2F2B"/>
                </a:solidFill>
              </a:defRPr>
            </a:pPr>
            <a:r>
              <a:t>Gestion de Personal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Ficha completa de 50+ campos por empleado</a:t>
            </a:r>
          </a:p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Organigrama interactivo con colores por nivel</a:t>
            </a:r>
          </a:p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Contratos DL 728: PDF, DOCX, prorrogas, adendas</a:t>
            </a:r>
          </a:p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Areas, Sub-Areas, Cargos normalizados</a:t>
            </a:r>
          </a:p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Roster matricial de asignaciones</a:t>
            </a:r>
          </a:p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Reportes: headcount, rotacion, contratos</a:t>
            </a:r>
          </a:p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Importacion masiva desde Excel</a:t>
            </a:r>
          </a:p>
        </p:txBody>
      </p:sp>
      <p:pic>
        <p:nvPicPr>
          <p:cNvPr id="4" name="Picture 3" descr="06_organi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2F2B"/>
                </a:solidFill>
              </a:defRPr>
            </a:pPr>
            <a:r>
              <a:t>Control de Asistencia</a:t>
            </a:r>
          </a:p>
        </p:txBody>
      </p:sp>
      <p:pic>
        <p:nvPicPr>
          <p:cNvPr id="3" name="Picture 2" descr="03_calendario_marz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6532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2F2B"/>
                </a:solidFill>
              </a:defRPr>
            </a:pPr>
            <a:r>
              <a:t>Reporte Staff</a:t>
            </a:r>
          </a:p>
        </p:txBody>
      </p:sp>
      <p:pic>
        <p:nvPicPr>
          <p:cNvPr id="3" name="Picture 2" descr="07_reporte_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5760720" cy="3240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2F2B"/>
                </a:solidFill>
              </a:defRPr>
            </a:pPr>
            <a:r>
              <a:t>Reporte RCO</a:t>
            </a:r>
          </a:p>
        </p:txBody>
      </p:sp>
      <p:pic>
        <p:nvPicPr>
          <p:cNvPr id="5" name="Picture 4" descr="08_reporte_r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2F2B"/>
                </a:solidFill>
              </a:defRPr>
            </a:pPr>
            <a:r>
              <a:t>Contratos Laborales — DL 728</a:t>
            </a:r>
          </a:p>
        </p:txBody>
      </p:sp>
      <p:pic>
        <p:nvPicPr>
          <p:cNvPr id="3" name="Picture 2" descr="09_contrato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65322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2F2B"/>
                </a:solidFill>
              </a:defRPr>
            </a:pPr>
            <a:r>
              <a:t>Nominas y Planillas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Calculo automatico de todos los 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Sueldo basico + asignacion familiar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Horas extra: 25%, 35%, 100%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Gratificacion + bonificacion 9%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CTS semestral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AFP (Habitat, Integra, Prima, Profuturo)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ONP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IR 5ta categoria (escala progresiva)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Descuentos: prestamos, adelantos, judiciales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Boletas PDF individuales y masivas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Liquidacion automatica por cese</a:t>
            </a:r>
          </a:p>
        </p:txBody>
      </p:sp>
      <p:pic>
        <p:nvPicPr>
          <p:cNvPr id="5" name="Picture 4" descr="01_perio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73152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EEAD4"/>
                </a:solidFill>
              </a:defRPr>
            </a:pPr>
            <a:r>
              <a:t>22 Modulos Integrados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Personal &amp; Ficha Empleado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Organigrama Interactivo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Contratos DL 728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Asistencia Matricial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Papeletas &amp; Permisos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Banco de Horas Extra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Nominas &amp; Planillas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Boletas PDF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Liquidaciones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Vacaciones DL 713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IR 5ta Categoria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Reclutamiento Kanban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Onboarding &amp; Offboarding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Evaluaciones 360 / OKR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Capacitaciones &amp; LMS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Encuestas de Clima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Disciplinaria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Prestamos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Viaticos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Comunicaciones &amp; WhatsApp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Documentos &amp; Firma Digital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Workflows &amp; Aprobaciones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EEAD4"/>
                </a:solidFill>
              </a:defRPr>
            </a:pPr>
            <a:r>
              <a:t>Inteligencia Artificial Integrada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La unica plataforma de RRHH en Peru con IA nativa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C8FAF2"/>
                </a:solidFill>
              </a:defRPr>
            </a:pPr>
            <a:r>
              <a:t>Asistente Virtual 24/7 — consultas de personal, normativa, asistencia</a:t>
            </a:r>
          </a:p>
          <a:p>
            <a:pPr>
              <a:spcAft>
                <a:spcPts val="600"/>
              </a:spcAft>
              <a:defRPr sz="1600" b="0">
                <a:solidFill>
                  <a:srgbClr val="C8FAF2"/>
                </a:solidFill>
              </a:defRPr>
            </a:pPr>
            <a:r>
              <a:t>Analisis de Contratos — riesgos legales, cumplimiento DL 728</a:t>
            </a:r>
          </a:p>
          <a:p>
            <a:pPr>
              <a:spcAft>
                <a:spcPts val="600"/>
              </a:spcAft>
              <a:defRPr sz="1600" b="0">
                <a:solidFill>
                  <a:srgbClr val="C8FAF2"/>
                </a:solidFill>
              </a:defRPr>
            </a:pPr>
            <a:r>
              <a:t>Generacion Automatica — contratos, adendas, prorrogas desde plantillas</a:t>
            </a:r>
          </a:p>
          <a:p>
            <a:pPr>
              <a:spcAft>
                <a:spcPts val="600"/>
              </a:spcAft>
              <a:defRPr sz="1600" b="0">
                <a:solidFill>
                  <a:srgbClr val="C8FAF2"/>
                </a:solidFill>
              </a:defRPr>
            </a:pPr>
            <a:r>
              <a:t>Base de Conocimiento RAG — 59 articulos de normativa peruana</a:t>
            </a:r>
          </a:p>
          <a:p>
            <a:pPr>
              <a:spcAft>
                <a:spcPts val="600"/>
              </a:spcAft>
              <a:defRPr sz="1600" b="0">
                <a:solidFill>
                  <a:srgbClr val="C8FAF2"/>
                </a:solidFill>
              </a:defRPr>
            </a:pPr>
            <a:r>
              <a:t>Reglas Inteligentes — configura asistencia conversando con la IA</a:t>
            </a:r>
          </a:p>
          <a:p>
            <a:pPr>
              <a:spcAft>
                <a:spcPts val="600"/>
              </a:spcAft>
              <a:defRPr sz="1600" b="0">
                <a:solidFill>
                  <a:srgbClr val="C8FAF2"/>
                </a:solidFill>
              </a:defRPr>
            </a:pPr>
            <a:r>
              <a:t>Dashboard Predictivo — rotacion, riesgo de fuga, clima laboral</a:t>
            </a:r>
          </a:p>
          <a:p>
            <a:pPr>
              <a:spcAft>
                <a:spcPts val="600"/>
              </a:spcAft>
              <a:defRPr sz="1600" b="0">
                <a:solidFill>
                  <a:srgbClr val="C8FAF2"/>
                </a:solidFill>
              </a:defRPr>
            </a:pPr>
            <a:r>
              <a:t>Multi-proveedor — Gemini 2.5 + DeepSeek V3 + GPT-4o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A2F2B"/>
                </a:solidFill>
              </a:defRPr>
            </a:pPr>
            <a:r>
              <a:t>Integraciones Peruanas — Un Click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B7280"/>
                </a:solidFill>
              </a:defRPr>
            </a:pPr>
            <a:r>
              <a:t>SUNAT: PLAME mensual + T-Registro altas/bajas + PDT 601</a:t>
            </a:r>
          </a:p>
          <a:p>
            <a:pPr>
              <a:spcAft>
                <a:spcPts val="600"/>
              </a:spcAft>
              <a:defRPr sz="1600" b="0">
                <a:solidFill>
                  <a:srgbClr val="6B7280"/>
                </a:solidFill>
              </a:defRPr>
            </a:pPr>
            <a:r>
              <a:t>AFP: Habitat, Integra, Prima, Profuturo (formato AFP Net)</a:t>
            </a:r>
          </a:p>
          <a:p>
            <a:pPr>
              <a:spcAft>
                <a:spcPts val="600"/>
              </a:spcAft>
              <a:defRPr sz="1600" b="0">
                <a:solidFill>
                  <a:srgbClr val="6B7280"/>
                </a:solidFill>
              </a:defRPr>
            </a:pPr>
            <a:r>
              <a:t>Bancos: Telecredito BCP, BBVA, Interbank, Scotiabank</a:t>
            </a:r>
          </a:p>
          <a:p>
            <a:pPr>
              <a:spcAft>
                <a:spcPts val="600"/>
              </a:spcAft>
              <a:defRPr sz="1600" b="0">
                <a:solidFill>
                  <a:srgbClr val="6B7280"/>
                </a:solidFill>
              </a:defRPr>
            </a:pPr>
            <a:r>
              <a:t>CTS: Depositos semestrales en formato de cada banco</a:t>
            </a:r>
          </a:p>
          <a:p>
            <a:pPr>
              <a:spcAft>
                <a:spcPts val="600"/>
              </a:spcAft>
              <a:defRPr sz="1600" b="0">
                <a:solidFill>
                  <a:srgbClr val="6B7280"/>
                </a:solidFill>
              </a:defRPr>
            </a:pPr>
            <a:r>
              <a:t>EsSalud: Aportes patronales mensuales</a:t>
            </a:r>
          </a:p>
          <a:p>
            <a:pPr>
              <a:spcAft>
                <a:spcPts val="600"/>
              </a:spcAft>
              <a:defRPr sz="1600" b="0">
                <a:solidFill>
                  <a:srgbClr val="6B7280"/>
                </a:solidFill>
              </a:defRPr>
            </a:pPr>
            <a:r>
              <a:t>Contabilidad: CONCAR, SIGO, SAP, SIRE</a:t>
            </a:r>
          </a:p>
          <a:p>
            <a:pPr>
              <a:spcAft>
                <a:spcPts val="600"/>
              </a:spcAft>
              <a:defRPr sz="1600" b="0">
                <a:solidFill>
                  <a:srgbClr val="6B7280"/>
                </a:solidFill>
              </a:defRPr>
            </a:pPr>
            <a:r>
              <a:t>SCTR: Seguro Complementario de Trabajo de Riesgo</a:t>
            </a:r>
          </a:p>
        </p:txBody>
      </p:sp>
      <p:pic>
        <p:nvPicPr>
          <p:cNvPr id="4" name="Picture 3" descr="01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10058400" cy="92883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2F2B"/>
                </a:solidFill>
              </a:defRPr>
            </a:pPr>
            <a:r>
              <a:t>Portal del Trabajador — Autoservicio</a:t>
            </a:r>
          </a:p>
        </p:txBody>
      </p:sp>
      <p:pic>
        <p:nvPicPr>
          <p:cNvPr id="3" name="Picture 2" descr="01_portal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65322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2F2B"/>
                </a:solidFill>
              </a:defRPr>
            </a:pPr>
            <a:r>
              <a:t>Planes y Precios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766E"/>
                </a:solidFill>
              </a:defRPr>
            </a:pPr>
            <a:r>
              <a:t>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2F2B"/>
                </a:solidFill>
              </a:defRPr>
            </a:pPr>
            <a:r>
              <a:t>S/ 149/mes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Hasta 50 colaboradores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Personal + Asistencia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Nominas basicas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Portal del Trabajador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Soporte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EEAD4"/>
                </a:solidFill>
              </a:defRPr>
            </a:pPr>
            <a:r>
              <a:t>MAS POPULAR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PROFESIONAL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S/ 349/mes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E8FAF7"/>
                </a:solidFill>
              </a:defRPr>
            </a:pPr>
            <a:r>
              <a:t>Hasta 200 colaboradores</a:t>
            </a:r>
          </a:p>
          <a:p>
            <a:pPr>
              <a:spcAft>
                <a:spcPts val="600"/>
              </a:spcAft>
              <a:defRPr sz="1300" b="0">
                <a:solidFill>
                  <a:srgbClr val="E8FAF7"/>
                </a:solidFill>
              </a:defRPr>
            </a:pPr>
            <a:r>
              <a:t>22 modulos completos</a:t>
            </a:r>
          </a:p>
          <a:p>
            <a:pPr>
              <a:spcAft>
                <a:spcPts val="600"/>
              </a:spcAft>
              <a:defRPr sz="1300" b="0">
                <a:solidFill>
                  <a:srgbClr val="E8FAF7"/>
                </a:solidFill>
              </a:defRPr>
            </a:pPr>
            <a:r>
              <a:t>Inteligencia Artificial</a:t>
            </a:r>
          </a:p>
          <a:p>
            <a:pPr>
              <a:spcAft>
                <a:spcPts val="600"/>
              </a:spcAft>
              <a:defRPr sz="1300" b="0">
                <a:solidFill>
                  <a:srgbClr val="E8FAF7"/>
                </a:solidFill>
              </a:defRPr>
            </a:pPr>
            <a:r>
              <a:t>PLAME, AFP, CTS bancos</a:t>
            </a:r>
          </a:p>
          <a:p>
            <a:pPr>
              <a:spcAft>
                <a:spcPts val="600"/>
              </a:spcAft>
              <a:defRPr sz="1300" b="0">
                <a:solidFill>
                  <a:srgbClr val="E8FAF7"/>
                </a:solidFill>
              </a:defRPr>
            </a:pPr>
            <a:r>
              <a:t>Soporte WhatsApp prioritario</a:t>
            </a:r>
          </a:p>
          <a:p>
            <a:pPr>
              <a:spcAft>
                <a:spcPts val="600"/>
              </a:spcAft>
              <a:defRPr sz="1300" b="0">
                <a:solidFill>
                  <a:srgbClr val="E8FAF7"/>
                </a:solidFill>
              </a:defRPr>
            </a:pPr>
            <a:r>
              <a:t>Implementacion asistida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005840"/>
            <a:ext cx="3566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766E"/>
                </a:solidFill>
              </a:defRPr>
            </a:pPr>
            <a:r>
              <a:t>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2F2B"/>
                </a:solidFill>
              </a:defRPr>
            </a:pPr>
            <a:r>
              <a:t>A medida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43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Colaboradores ilimitados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Multi-empresa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API REST completa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Personalizaciones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Servidor dedicado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SLA 24/7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Empieza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EEAD4"/>
                </a:solidFill>
              </a:defRPr>
            </a:pPr>
            <a:r>
              <a:t>Solicita tu demo gratuita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www.harmoni.pe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+51 977 538 028  |  ventas@harmoni.pe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Harmoni ERP  |  Lima, Peru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